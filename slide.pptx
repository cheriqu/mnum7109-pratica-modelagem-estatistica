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62" r:id="rId4"/>
    <p:sldId id="265" r:id="rId5"/>
    <p:sldId id="264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81" r:id="rId16"/>
    <p:sldId id="282" r:id="rId17"/>
    <p:sldId id="275" r:id="rId18"/>
    <p:sldId id="276" r:id="rId19"/>
    <p:sldId id="277" r:id="rId20"/>
    <p:sldId id="278" r:id="rId21"/>
    <p:sldId id="280" r:id="rId22"/>
    <p:sldId id="279" r:id="rId23"/>
    <p:sldId id="283" r:id="rId24"/>
    <p:sldId id="286" r:id="rId25"/>
    <p:sldId id="284" r:id="rId26"/>
    <p:sldId id="285" r:id="rId27"/>
    <p:sldId id="261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8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96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8471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13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620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050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922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6313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5746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8742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7282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71F9-BD61-41A8-A265-115A5343D652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1359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C71F9-BD61-41A8-A265-115A5343D652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C5966-CC82-4640-A9E2-D27B3738F7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886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524000" y="2906164"/>
            <a:ext cx="9144000" cy="938213"/>
          </a:xfrm>
        </p:spPr>
        <p:txBody>
          <a:bodyPr>
            <a:normAutofit fontScale="90000"/>
          </a:bodyPr>
          <a:lstStyle/>
          <a:p>
            <a:r>
              <a:rPr lang="pt-BR" sz="4800" dirty="0">
                <a:solidFill>
                  <a:srgbClr val="005189"/>
                </a:solidFill>
                <a:latin typeface="Futura Hv BT" panose="020B0702020204020204" pitchFamily="34" charset="0"/>
              </a:rPr>
              <a:t>Apresentação do Artigo:</a:t>
            </a:r>
            <a:br>
              <a:rPr lang="pt-BR" sz="4800" dirty="0">
                <a:solidFill>
                  <a:srgbClr val="005189"/>
                </a:solidFill>
                <a:latin typeface="Futura Hv BT" panose="020B0702020204020204" pitchFamily="34" charset="0"/>
              </a:rPr>
            </a:br>
            <a:r>
              <a:rPr lang="pt-BR" sz="4800" dirty="0" err="1">
                <a:solidFill>
                  <a:srgbClr val="005189"/>
                </a:solidFill>
                <a:latin typeface="Futura Hv BT" panose="020B0702020204020204" pitchFamily="34" charset="0"/>
              </a:rPr>
              <a:t>Flexible</a:t>
            </a:r>
            <a:r>
              <a:rPr lang="pt-BR" sz="4800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sz="4800" dirty="0" err="1">
                <a:solidFill>
                  <a:srgbClr val="005189"/>
                </a:solidFill>
                <a:latin typeface="Futura Hv BT" panose="020B0702020204020204" pitchFamily="34" charset="0"/>
              </a:rPr>
              <a:t>Tweedie</a:t>
            </a:r>
            <a:r>
              <a:rPr lang="pt-BR" sz="4800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sz="4800" dirty="0" err="1">
                <a:solidFill>
                  <a:srgbClr val="005189"/>
                </a:solidFill>
                <a:latin typeface="Futura Hv BT" panose="020B0702020204020204" pitchFamily="34" charset="0"/>
              </a:rPr>
              <a:t>regression</a:t>
            </a:r>
            <a:r>
              <a:rPr lang="pt-BR" sz="4800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sz="4800" dirty="0" err="1">
                <a:solidFill>
                  <a:srgbClr val="005189"/>
                </a:solidFill>
                <a:latin typeface="Futura Hv BT" panose="020B0702020204020204" pitchFamily="34" charset="0"/>
              </a:rPr>
              <a:t>models</a:t>
            </a:r>
            <a:r>
              <a:rPr lang="pt-BR" sz="4800" dirty="0">
                <a:solidFill>
                  <a:srgbClr val="005189"/>
                </a:solidFill>
                <a:latin typeface="Futura Hv BT" panose="020B0702020204020204" pitchFamily="34" charset="0"/>
              </a:rPr>
              <a:t> for </a:t>
            </a:r>
            <a:r>
              <a:rPr lang="pt-BR" sz="4800" dirty="0" err="1">
                <a:solidFill>
                  <a:srgbClr val="005189"/>
                </a:solidFill>
                <a:latin typeface="Futura Hv BT" panose="020B0702020204020204" pitchFamily="34" charset="0"/>
              </a:rPr>
              <a:t>continuous</a:t>
            </a:r>
            <a:r>
              <a:rPr lang="pt-BR" sz="4800" dirty="0">
                <a:solidFill>
                  <a:srgbClr val="005189"/>
                </a:solidFill>
                <a:latin typeface="Futura Hv BT" panose="020B0702020204020204" pitchFamily="34" charset="0"/>
              </a:rPr>
              <a:t> data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2814940" y="4372495"/>
            <a:ext cx="6562118" cy="1281893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Luiz Henrique Barretta Francisco</a:t>
            </a:r>
          </a:p>
        </p:txBody>
      </p:sp>
      <p:sp>
        <p:nvSpPr>
          <p:cNvPr id="6" name="Subtítulo 4"/>
          <p:cNvSpPr txBox="1">
            <a:spLocks/>
          </p:cNvSpPr>
          <p:nvPr/>
        </p:nvSpPr>
        <p:spPr>
          <a:xfrm>
            <a:off x="3212305" y="671510"/>
            <a:ext cx="5767388" cy="891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bg2">
                    <a:lumMod val="25000"/>
                  </a:schemeClr>
                </a:solidFill>
                <a:latin typeface="Futura Hv BT" panose="020B0702020204020204" pitchFamily="34" charset="0"/>
              </a:rPr>
              <a:t>UNIVERSIDADE FEDERAL DO PARANÁ</a:t>
            </a:r>
            <a:endParaRPr lang="pt-BR" sz="1800" dirty="0">
              <a:solidFill>
                <a:schemeClr val="bg2">
                  <a:lumMod val="25000"/>
                </a:schemeClr>
              </a:solidFill>
              <a:latin typeface="Futura Bk BT" panose="020B05020202040203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bg2">
                    <a:lumMod val="25000"/>
                  </a:schemeClr>
                </a:solidFill>
                <a:latin typeface="Futura Bk BT" panose="020B0502020204020303" pitchFamily="34" charset="0"/>
              </a:rPr>
              <a:t>PPGMNE</a:t>
            </a:r>
          </a:p>
        </p:txBody>
      </p:sp>
    </p:spTree>
    <p:extLst>
      <p:ext uri="{BB962C8B-B14F-4D97-AF65-F5344CB8AC3E}">
        <p14:creationId xmlns:p14="http://schemas.microsoft.com/office/powerpoint/2010/main" val="160955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1409700" y="1162050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Informações</a:t>
            </a:r>
          </a:p>
        </p:txBody>
      </p:sp>
      <p:sp>
        <p:nvSpPr>
          <p:cNvPr id="10" name="Espaço Reservado para Conteúdo 9"/>
          <p:cNvSpPr>
            <a:spLocks noGrp="1"/>
          </p:cNvSpPr>
          <p:nvPr>
            <p:ph idx="1"/>
          </p:nvPr>
        </p:nvSpPr>
        <p:spPr>
          <a:xfrm>
            <a:off x="1409700" y="2257424"/>
            <a:ext cx="9258300" cy="4085187"/>
          </a:xfrm>
        </p:spPr>
        <p:txBody>
          <a:bodyPr>
            <a:normAutofit/>
          </a:bodyPr>
          <a:lstStyle/>
          <a:p>
            <a:r>
              <a:rPr lang="pt-BR" dirty="0"/>
              <a:t>Wagner Hugo </a:t>
            </a:r>
            <a:r>
              <a:rPr lang="pt-BR" dirty="0" err="1"/>
              <a:t>Bonat</a:t>
            </a:r>
            <a:endParaRPr lang="pt-BR" dirty="0"/>
          </a:p>
          <a:p>
            <a:r>
              <a:rPr lang="en-US" sz="2400" dirty="0"/>
              <a:t>Department of Statistics, Paraná Federal University, Brazil</a:t>
            </a:r>
            <a:endParaRPr lang="en-US" i="1" dirty="0">
              <a:latin typeface="Futura Md BT" panose="020B0602020204020303" pitchFamily="34" charset="0"/>
            </a:endParaRPr>
          </a:p>
          <a:p>
            <a:r>
              <a:rPr lang="pt-BR" dirty="0" err="1"/>
              <a:t>Célestin</a:t>
            </a:r>
            <a:r>
              <a:rPr lang="pt-BR" dirty="0"/>
              <a:t> C. </a:t>
            </a:r>
            <a:r>
              <a:rPr lang="pt-BR" dirty="0" err="1"/>
              <a:t>Kokonendji</a:t>
            </a:r>
            <a:endParaRPr lang="pt-BR" dirty="0"/>
          </a:p>
          <a:p>
            <a:r>
              <a:rPr lang="fr-FR" sz="2400" dirty="0"/>
              <a:t>Laboratoire de Mathématiques de Besançon, France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en-US" dirty="0"/>
              <a:t>Volume 87, 2017 – Issue 11</a:t>
            </a:r>
            <a:endParaRPr lang="en-US" u="sng" dirty="0"/>
          </a:p>
          <a:p>
            <a:r>
              <a:rPr lang="pt-BR" dirty="0" err="1"/>
              <a:t>Pages</a:t>
            </a:r>
            <a:r>
              <a:rPr lang="pt-BR" dirty="0"/>
              <a:t>: 2138-2152</a:t>
            </a:r>
            <a:endParaRPr lang="fr-FR" sz="2400" dirty="0"/>
          </a:p>
          <a:p>
            <a:endParaRPr lang="fr-FR" sz="2400" i="1" dirty="0">
              <a:latin typeface="Futura Md BT" panose="020B0602020204020303" pitchFamily="34" charset="0"/>
            </a:endParaRPr>
          </a:p>
          <a:p>
            <a:endParaRPr lang="fr-FR" sz="2400" i="1" dirty="0">
              <a:latin typeface="Futura Md BT" panose="020B0602020204020303" pitchFamily="34" charset="0"/>
            </a:endParaRPr>
          </a:p>
          <a:p>
            <a:endParaRPr lang="pt-BR" sz="2400" i="1" dirty="0">
              <a:latin typeface="Futura Md BT" panose="020B0602020204020303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35" y="4300017"/>
            <a:ext cx="1733792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15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1409700" y="1162050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Modelos de Regressão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Tweedie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spaço Reservado para Conteúdo 9"/>
              <p:cNvSpPr>
                <a:spLocks noGrp="1"/>
              </p:cNvSpPr>
              <p:nvPr>
                <p:ph idx="1"/>
              </p:nvPr>
            </p:nvSpPr>
            <p:spPr>
              <a:xfrm>
                <a:off x="1409700" y="2257424"/>
                <a:ext cx="9258300" cy="4509136"/>
              </a:xfrm>
            </p:spPr>
            <p:txBody>
              <a:bodyPr>
                <a:normAutofit/>
              </a:bodyPr>
              <a:lstStyle/>
              <a:p>
                <a:r>
                  <a:rPr lang="pt-BR" dirty="0">
                    <a:latin typeface="Futura Md BT" panose="020B0602020204020303" pitchFamily="34" charset="0"/>
                  </a:rPr>
                  <a:t>Família flexível de distribuições:</a:t>
                </a:r>
              </a:p>
              <a:p>
                <a:pPr lvl="1"/>
                <a:r>
                  <a:rPr lang="pt-BR" dirty="0">
                    <a:latin typeface="Futura Md BT" panose="020B0602020204020303" pitchFamily="34" charset="0"/>
                  </a:rPr>
                  <a:t>Dados não negativos e assimétricos à direita</a:t>
                </a:r>
              </a:p>
              <a:p>
                <a:pPr lvl="1"/>
                <a:r>
                  <a:rPr lang="pt-BR" dirty="0">
                    <a:latin typeface="Futura Md BT" panose="020B0602020204020303" pitchFamily="34" charset="0"/>
                  </a:rPr>
                  <a:t>Contínuos com massa de probabilidade em zero</a:t>
                </a:r>
              </a:p>
              <a:p>
                <a:pPr lvl="1"/>
                <a:r>
                  <a:rPr lang="pt-BR" dirty="0">
                    <a:latin typeface="Futura Md BT" panose="020B0602020204020303" pitchFamily="34" charset="0"/>
                  </a:rPr>
                  <a:t>Acomoda </a:t>
                </a:r>
                <a:r>
                  <a:rPr lang="pt-BR" dirty="0" err="1">
                    <a:latin typeface="Futura Md BT" panose="020B0602020204020303" pitchFamily="34" charset="0"/>
                  </a:rPr>
                  <a:t>subdispersão</a:t>
                </a:r>
                <a:r>
                  <a:rPr lang="pt-BR" dirty="0">
                    <a:latin typeface="Futura Md BT" panose="020B0602020204020303" pitchFamily="34" charset="0"/>
                  </a:rPr>
                  <a:t> e </a:t>
                </a:r>
                <a:r>
                  <a:rPr lang="pt-BR" dirty="0" err="1">
                    <a:latin typeface="Futura Md BT" panose="020B0602020204020303" pitchFamily="34" charset="0"/>
                  </a:rPr>
                  <a:t>superdispersão</a:t>
                </a:r>
                <a:endParaRPr lang="pt-BR" dirty="0">
                  <a:latin typeface="Futura Md BT" panose="020B0602020204020303" pitchFamily="34" charset="0"/>
                </a:endParaRPr>
              </a:p>
              <a:p>
                <a:pPr marL="0" indent="0">
                  <a:buNone/>
                </a:pPr>
                <a:endParaRPr lang="pt-BR" dirty="0">
                  <a:latin typeface="Futura Md BT" panose="020B06020202040203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𝜙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pt-BR" b="0" dirty="0">
                  <a:latin typeface="Futura Md BT" panose="020B0602020204020303" pitchFamily="34" charset="0"/>
                </a:endParaRPr>
              </a:p>
              <a:p>
                <a:pPr marL="0" indent="0">
                  <a:buNone/>
                </a:pPr>
                <a:endParaRPr lang="pt-BR" sz="1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~ 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𝑇𝑤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pt-BR" b="0" dirty="0">
                  <a:latin typeface="Futura Md BT" panose="020B0602020204020303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b="0" dirty="0">
                  <a:latin typeface="Futura Md BT" panose="020B06020202040203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&gt;0 ;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−∞,0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[1,∞) </m:t>
                      </m:r>
                    </m:oMath>
                  </m:oMathPara>
                </a14:m>
                <a:endParaRPr lang="pt-BR" b="0" dirty="0">
                  <a:latin typeface="Futura Md BT" panose="020B0602020204020303" pitchFamily="34" charset="0"/>
                </a:endParaRPr>
              </a:p>
            </p:txBody>
          </p:sp>
        </mc:Choice>
        <mc:Fallback>
          <p:sp>
            <p:nvSpPr>
              <p:cNvPr id="10" name="Espaço Reservado para Conteúdo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09700" y="2257424"/>
                <a:ext cx="9258300" cy="4509136"/>
              </a:xfrm>
              <a:blipFill>
                <a:blip r:embed="rId3"/>
                <a:stretch>
                  <a:fillRect l="-1185" t="-22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4"/>
          <a:srcRect r="636"/>
          <a:stretch/>
        </p:blipFill>
        <p:spPr>
          <a:xfrm>
            <a:off x="4533794" y="5569677"/>
            <a:ext cx="3010112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101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/>
          <p:cNvGrpSpPr/>
          <p:nvPr/>
        </p:nvGrpSpPr>
        <p:grpSpPr>
          <a:xfrm>
            <a:off x="1675902" y="2157699"/>
            <a:ext cx="8935697" cy="638221"/>
            <a:chOff x="1628151" y="3124200"/>
            <a:chExt cx="8935697" cy="638221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 rotWithShape="1">
            <a:blip r:embed="rId3"/>
            <a:srcRect t="4292"/>
            <a:stretch/>
          </p:blipFill>
          <p:spPr>
            <a:xfrm>
              <a:off x="1628151" y="3124200"/>
              <a:ext cx="8935697" cy="638221"/>
            </a:xfrm>
            <a:prstGeom prst="rect">
              <a:avLst/>
            </a:prstGeom>
          </p:spPr>
        </p:pic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28151" y="3124200"/>
              <a:ext cx="556996" cy="259120"/>
            </a:xfrm>
            <a:prstGeom prst="rect">
              <a:avLst/>
            </a:prstGeom>
          </p:spPr>
        </p:pic>
      </p:grpSp>
      <p:grpSp>
        <p:nvGrpSpPr>
          <p:cNvPr id="12" name="Agrupar 11"/>
          <p:cNvGrpSpPr/>
          <p:nvPr/>
        </p:nvGrpSpPr>
        <p:grpSpPr>
          <a:xfrm>
            <a:off x="1671139" y="3334655"/>
            <a:ext cx="8945223" cy="1088785"/>
            <a:chOff x="1628151" y="4507230"/>
            <a:chExt cx="8945223" cy="1088785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 rotWithShape="1">
            <a:blip r:embed="rId5"/>
            <a:srcRect t="2315"/>
            <a:stretch/>
          </p:blipFill>
          <p:spPr>
            <a:xfrm>
              <a:off x="1628151" y="4507230"/>
              <a:ext cx="8945223" cy="1088785"/>
            </a:xfrm>
            <a:prstGeom prst="rect">
              <a:avLst/>
            </a:prstGeom>
          </p:spPr>
        </p:pic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79453" y="5272120"/>
              <a:ext cx="1493921" cy="323895"/>
            </a:xfrm>
            <a:prstGeom prst="rect">
              <a:avLst/>
            </a:prstGeom>
          </p:spPr>
        </p:pic>
      </p:grpSp>
      <p:sp>
        <p:nvSpPr>
          <p:cNvPr id="13" name="Título 8"/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Suporte da distribuição e casos especiais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5428" y="4962175"/>
            <a:ext cx="8916644" cy="1352739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6833" y="5991019"/>
            <a:ext cx="7995239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04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10" y="728680"/>
            <a:ext cx="9918781" cy="6048375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49" y="295275"/>
            <a:ext cx="7611242" cy="31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75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283" y="875943"/>
            <a:ext cx="9021434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47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505" y="1047417"/>
            <a:ext cx="8945223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393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284" y="1933366"/>
            <a:ext cx="6849431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039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78" y="1942892"/>
            <a:ext cx="8916644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8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8"/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Maximum</a:t>
            </a:r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likelihood</a:t>
            </a:r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estimation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0E0AB9-CA72-7740-5927-E2560D041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074" y="1661600"/>
            <a:ext cx="5915851" cy="112410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5C487C9-6D9B-7678-3A59-23AB5283F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706" y="2710893"/>
            <a:ext cx="4734586" cy="121937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F3FB45A-F539-81ED-7441-B1807E2A5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3631" y="3764720"/>
            <a:ext cx="6963747" cy="200052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2D42789-8886-350B-CBD9-F0D3E9FC52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126" y="5765249"/>
            <a:ext cx="6239746" cy="10288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43CB06F-8AB1-7F70-813E-CD8E24F57A82}"/>
                  </a:ext>
                </a:extLst>
              </p:cNvPr>
              <p:cNvSpPr txBox="1"/>
              <p:nvPr/>
            </p:nvSpPr>
            <p:spPr>
              <a:xfrm>
                <a:off x="149772" y="1986455"/>
                <a:ext cx="2727435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Log-</a:t>
                </a:r>
                <a:r>
                  <a:rPr lang="en-US" sz="2400" dirty="0" err="1"/>
                  <a:t>verossimilhança</a:t>
                </a: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 err="1"/>
                  <a:t>Funcão</a:t>
                </a:r>
                <a:r>
                  <a:rPr lang="en-US" sz="2400" dirty="0"/>
                  <a:t> Score </a:t>
                </a:r>
                <a:r>
                  <a:rPr lang="en-US" sz="2400" dirty="0" err="1"/>
                  <a:t>em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 err="1"/>
                  <a:t>Matriz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informação</a:t>
                </a:r>
                <a:r>
                  <a:rPr lang="en-US" sz="2400" dirty="0"/>
                  <a:t> de Fisher em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 </a:t>
                </a:r>
                <a:endParaRPr lang="pt-BR" sz="2400" dirty="0"/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43CB06F-8AB1-7F70-813E-CD8E24F57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72" y="1986455"/>
                <a:ext cx="2727435" cy="4893647"/>
              </a:xfrm>
              <a:prstGeom prst="rect">
                <a:avLst/>
              </a:prstGeom>
              <a:blipFill>
                <a:blip r:embed="rId7"/>
                <a:stretch>
                  <a:fillRect l="-3579" t="-996" r="-1790" b="-18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93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549689-5303-AE49-83AC-AC98EBF5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8">
            <a:extLst>
              <a:ext uri="{FF2B5EF4-FFF2-40B4-BE49-F238E27FC236}">
                <a16:creationId xmlns:a16="http://schemas.microsoft.com/office/drawing/2014/main" id="{BC717186-7DC1-8C86-5AE1-61EB3086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Maximum</a:t>
            </a:r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likelihood</a:t>
            </a:r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estimation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54AF91-B948-DFEC-224D-1FD84CBF5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076" y="1595282"/>
            <a:ext cx="4105848" cy="99073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7998488-53DB-C74E-F6AF-BDF8E71DA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3205" y="2581120"/>
            <a:ext cx="6725589" cy="227679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FE8FC1B-ADC1-289E-C091-B047CA5B3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207" y="5262718"/>
            <a:ext cx="2743583" cy="7621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7CC6B14-7FFD-D985-93C7-43D86DB10666}"/>
                  </a:ext>
                </a:extLst>
              </p:cNvPr>
              <p:cNvSpPr txBox="1"/>
              <p:nvPr/>
            </p:nvSpPr>
            <p:spPr>
              <a:xfrm>
                <a:off x="149772" y="1986455"/>
                <a:ext cx="2727435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Funcão Score </a:t>
                </a:r>
                <a:r>
                  <a:rPr lang="en-US" sz="2400" dirty="0" err="1"/>
                  <a:t>em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 err="1"/>
                  <a:t>Matriz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informação</a:t>
                </a:r>
                <a:r>
                  <a:rPr lang="en-US" sz="2400" dirty="0"/>
                  <a:t> de Fisher </a:t>
                </a:r>
                <a:r>
                  <a:rPr lang="en-US" sz="2400" dirty="0" err="1"/>
                  <a:t>em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</a:t>
                </a:r>
                <a:endParaRPr lang="pt-BR" sz="2400" dirty="0"/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7CC6B14-7FFD-D985-93C7-43D86DB10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72" y="1986455"/>
                <a:ext cx="2727435" cy="4154984"/>
              </a:xfrm>
              <a:prstGeom prst="rect">
                <a:avLst/>
              </a:prstGeom>
              <a:blipFill>
                <a:blip r:embed="rId6"/>
                <a:stretch>
                  <a:fillRect l="-3579" t="-1175" b="-24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140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927F1-7F3A-C4B9-A6BF-A94F3E91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8">
            <a:extLst>
              <a:ext uri="{FF2B5EF4-FFF2-40B4-BE49-F238E27FC236}">
                <a16:creationId xmlns:a16="http://schemas.microsoft.com/office/drawing/2014/main" id="{AC847E66-44D2-2D1F-71A4-DD566EA9E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Maximum</a:t>
            </a:r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likelihood</a:t>
            </a:r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estimation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2498FFB-903A-802D-71AA-55F1B8FFF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244" y="1643998"/>
            <a:ext cx="8106906" cy="236253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FCADED1-12CB-046F-7B9A-5950EA9AF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285" y="4143587"/>
            <a:ext cx="2505425" cy="88594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AD350CB-4397-BAC5-D8E8-B4BFC08A9A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811" y="5166595"/>
            <a:ext cx="4296375" cy="11145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87537D93-3C25-55B5-C9AC-58423581694D}"/>
                  </a:ext>
                </a:extLst>
              </p:cNvPr>
              <p:cNvSpPr txBox="1"/>
              <p:nvPr/>
            </p:nvSpPr>
            <p:spPr>
              <a:xfrm>
                <a:off x="149772" y="1986455"/>
                <a:ext cx="4422227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Ortogonalidade</a:t>
                </a:r>
              </a:p>
              <a:p>
                <a:r>
                  <a:rPr lang="en-US" sz="2400" dirty="0"/>
                  <a:t>entre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 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 err="1"/>
                  <a:t>Matriz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informação</a:t>
                </a:r>
                <a:r>
                  <a:rPr lang="en-US" sz="2400" dirty="0"/>
                  <a:t> de Fisher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 err="1"/>
                  <a:t>Algoritmo</a:t>
                </a:r>
                <a:r>
                  <a:rPr lang="en-US" sz="2400" dirty="0"/>
                  <a:t> de Newton </a:t>
                </a:r>
                <a:r>
                  <a:rPr lang="en-US" sz="2400" dirty="0" err="1"/>
                  <a:t>em</a:t>
                </a:r>
                <a:endParaRPr lang="en-US" sz="2400" dirty="0"/>
              </a:p>
              <a:p>
                <a:r>
                  <a:rPr lang="en-US" sz="2400" dirty="0"/>
                  <a:t>2 </a:t>
                </a:r>
                <a:r>
                  <a:rPr lang="en-US" sz="2400" dirty="0" err="1"/>
                  <a:t>passos</a:t>
                </a:r>
                <a:endParaRPr lang="pt-BR" sz="2400" dirty="0"/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87537D93-3C25-55B5-C9AC-584235816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72" y="1986455"/>
                <a:ext cx="4422227" cy="4154984"/>
              </a:xfrm>
              <a:prstGeom prst="rect">
                <a:avLst/>
              </a:prstGeom>
              <a:blipFill>
                <a:blip r:embed="rId6"/>
                <a:stretch>
                  <a:fillRect l="-2207" t="-1175" b="-24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352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EC838-729B-80DD-33C1-36B270948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8">
            <a:extLst>
              <a:ext uri="{FF2B5EF4-FFF2-40B4-BE49-F238E27FC236}">
                <a16:creationId xmlns:a16="http://schemas.microsoft.com/office/drawing/2014/main" id="{9797A2A3-E7BF-2CC1-DB0C-1BE7ABC73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Quasi-likelihood</a:t>
            </a:r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estimation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F2CE54D-807C-B0D3-1FF4-2DE3A00F0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336" y="1826733"/>
            <a:ext cx="7897327" cy="10764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F1D0307-1D52-9F19-92CE-605DD8E70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8915" y="3237193"/>
            <a:ext cx="6754168" cy="110505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67E0ACA-82F3-C9DE-F950-2ED02C74C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205" y="4676233"/>
            <a:ext cx="6001588" cy="10383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5D7923B9-C429-11D4-723C-F3CD16DB6971}"/>
                  </a:ext>
                </a:extLst>
              </p:cNvPr>
              <p:cNvSpPr txBox="1"/>
              <p:nvPr/>
            </p:nvSpPr>
            <p:spPr>
              <a:xfrm>
                <a:off x="0" y="1645171"/>
                <a:ext cx="1939159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Quasi-score </a:t>
                </a:r>
                <a:r>
                  <a:rPr lang="en-US" sz="2400" dirty="0" err="1"/>
                  <a:t>em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 err="1"/>
                  <a:t>Sensibilidade</a:t>
                </a: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 err="1"/>
                  <a:t>Variabilidade</a:t>
                </a:r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5D7923B9-C429-11D4-723C-F3CD16DB6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45171"/>
                <a:ext cx="1939159" cy="4154984"/>
              </a:xfrm>
              <a:prstGeom prst="rect">
                <a:avLst/>
              </a:prstGeom>
              <a:blipFill>
                <a:blip r:embed="rId6"/>
                <a:stretch>
                  <a:fillRect l="-47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24F991C7-C7A1-5BAD-79CD-CA282A9F67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5260" y="2169680"/>
            <a:ext cx="2076740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35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1EC23-ACEA-B08A-064E-A785BF721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8">
            <a:extLst>
              <a:ext uri="{FF2B5EF4-FFF2-40B4-BE49-F238E27FC236}">
                <a16:creationId xmlns:a16="http://schemas.microsoft.com/office/drawing/2014/main" id="{C2CEFB43-35A8-DF78-3CB8-1B67A62B0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Quasi-likelihood</a:t>
            </a:r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estimation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B7A175E-67D9-2324-2F8D-FC864E1B9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441" y="1731880"/>
            <a:ext cx="8183117" cy="9907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B2D7C987-B469-0060-79EE-156E7F5157D8}"/>
                  </a:ext>
                </a:extLst>
              </p:cNvPr>
              <p:cNvSpPr txBox="1"/>
              <p:nvPr/>
            </p:nvSpPr>
            <p:spPr>
              <a:xfrm>
                <a:off x="0" y="1645171"/>
                <a:ext cx="1939159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Quasi-score </a:t>
                </a:r>
                <a:r>
                  <a:rPr lang="en-US" sz="2400" dirty="0" err="1"/>
                  <a:t>em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 err="1"/>
                  <a:t>Sensibilidade</a:t>
                </a: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 err="1"/>
                  <a:t>Variabilidade</a:t>
                </a:r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B2D7C987-B469-0060-79EE-156E7F515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45171"/>
                <a:ext cx="1939159" cy="4154984"/>
              </a:xfrm>
              <a:prstGeom prst="rect">
                <a:avLst/>
              </a:prstGeom>
              <a:blipFill>
                <a:blip r:embed="rId4"/>
                <a:stretch>
                  <a:fillRect l="-47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9DAA0334-C35D-3B59-CBBC-72CD752A2D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100" y="2823639"/>
            <a:ext cx="5353797" cy="43821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A1D1B18-5FC3-A85F-4D72-14320A14DD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230" y="3692408"/>
            <a:ext cx="5801535" cy="88594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635904F-DE8F-C961-F788-26BF67DB3D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8230" y="4711703"/>
            <a:ext cx="4715533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55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65759-F372-D964-6B64-E0E3D375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8">
            <a:extLst>
              <a:ext uri="{FF2B5EF4-FFF2-40B4-BE49-F238E27FC236}">
                <a16:creationId xmlns:a16="http://schemas.microsoft.com/office/drawing/2014/main" id="{7DC46BAF-945A-4059-615B-1576A89A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Quasi-likelihood</a:t>
            </a:r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estimation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5461CB8-56E1-D401-A288-78A42D90A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942" y="1960480"/>
            <a:ext cx="3658111" cy="80021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D97607C-32E4-9CC2-5E60-16C59FCED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886" y="2760692"/>
            <a:ext cx="5868219" cy="99073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01045EC-E08A-D360-16F9-807B6BAA1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414" y="5453365"/>
            <a:ext cx="2229161" cy="78115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A1F546D-13EF-EB93-0D6A-11355E9AEB21}"/>
              </a:ext>
            </a:extLst>
          </p:cNvPr>
          <p:cNvSpPr txBox="1"/>
          <p:nvPr/>
        </p:nvSpPr>
        <p:spPr>
          <a:xfrm>
            <a:off x="0" y="1645171"/>
            <a:ext cx="3429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  <a:p>
            <a:r>
              <a:rPr lang="en-US" sz="2400" dirty="0"/>
              <a:t>Entradas </a:t>
            </a:r>
            <a:r>
              <a:rPr lang="en-US" sz="2400" dirty="0" err="1"/>
              <a:t>cruzadas</a:t>
            </a:r>
            <a:r>
              <a:rPr lang="en-US" sz="2400" dirty="0"/>
              <a:t> da </a:t>
            </a:r>
            <a:r>
              <a:rPr lang="en-US" sz="2400" dirty="0" err="1"/>
              <a:t>Matriz</a:t>
            </a:r>
            <a:r>
              <a:rPr lang="en-US" sz="2400" dirty="0"/>
              <a:t> de </a:t>
            </a:r>
            <a:r>
              <a:rPr lang="en-US" sz="2400" dirty="0" err="1"/>
              <a:t>Sensibilidade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Sensibilidade</a:t>
            </a:r>
            <a:r>
              <a:rPr lang="en-US" sz="2400" dirty="0"/>
              <a:t> </a:t>
            </a:r>
            <a:r>
              <a:rPr lang="en-US" sz="2400" dirty="0" err="1"/>
              <a:t>conjunta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1EC5671-20FB-321F-7BFF-F7032DFFCC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5651" y="3921902"/>
            <a:ext cx="2600688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620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C4C97-ADA1-273C-5B5E-8F9650674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8">
            <a:extLst>
              <a:ext uri="{FF2B5EF4-FFF2-40B4-BE49-F238E27FC236}">
                <a16:creationId xmlns:a16="http://schemas.microsoft.com/office/drawing/2014/main" id="{FF29C6C0-AA90-9043-9197-DFBCB131B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Quasi-likelihood</a:t>
            </a:r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estimation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22AB6CE-137A-55FE-96E2-6468D6BB3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139" y="1883040"/>
            <a:ext cx="2534004" cy="75258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D7C9294-B5C3-E8B4-B7CC-1137DA4B0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703" y="3107021"/>
            <a:ext cx="8268854" cy="96215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4B7A09C-2D6D-4AD0-63E3-0A2886DC8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069" y="4686748"/>
            <a:ext cx="7916380" cy="1247949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6F2CC9B8-013F-70BE-7BF4-171684A51B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5274" y="6124919"/>
            <a:ext cx="6001588" cy="49536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684D6DAD-EFB3-5D7A-8888-E41277ECEB98}"/>
                  </a:ext>
                </a:extLst>
              </p:cNvPr>
              <p:cNvSpPr txBox="1"/>
              <p:nvPr/>
            </p:nvSpPr>
            <p:spPr>
              <a:xfrm>
                <a:off x="-1" y="1645171"/>
                <a:ext cx="3026465" cy="5295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</a:p>
              <a:p>
                <a:r>
                  <a:rPr lang="en-US" sz="2400" dirty="0" err="1"/>
                  <a:t>Variabilidade</a:t>
                </a:r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Para </a:t>
                </a:r>
                <a:r>
                  <a:rPr lang="en-US" sz="2400" dirty="0" err="1"/>
                  <a:t>não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depender</a:t>
                </a:r>
                <a:r>
                  <a:rPr lang="en-US" sz="2400" dirty="0"/>
                  <a:t> dos 3° e 4° </a:t>
                </a:r>
                <a:r>
                  <a:rPr lang="en-US" sz="2400" dirty="0" err="1"/>
                  <a:t>momentos</a:t>
                </a:r>
                <a:r>
                  <a:rPr lang="en-US" sz="2400" dirty="0"/>
                  <a:t>:</a:t>
                </a:r>
              </a:p>
              <a:p>
                <a:r>
                  <a:rPr lang="en-US" sz="2400" dirty="0" err="1"/>
                  <a:t>Versões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empíricas</a:t>
                </a:r>
                <a:r>
                  <a:rPr lang="en-US" sz="24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</m:oMath>
                </a14:m>
                <a:r>
                  <a:rPr lang="en-US" sz="24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𝜆𝛽</m:t>
                        </m:r>
                      </m:sub>
                    </m:sSub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684D6DAD-EFB3-5D7A-8888-E41277ECE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645171"/>
                <a:ext cx="3026465" cy="5295873"/>
              </a:xfrm>
              <a:prstGeom prst="rect">
                <a:avLst/>
              </a:prstGeom>
              <a:blipFill>
                <a:blip r:embed="rId7"/>
                <a:stretch>
                  <a:fillRect l="-3024" r="-16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1BA1982D-00E7-8B14-6C41-3D4FD20B6D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49" y="2021323"/>
            <a:ext cx="2333951" cy="46679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B98F6CB-BA6C-8A87-B3B9-2A90DE4483EB}"/>
              </a:ext>
            </a:extLst>
          </p:cNvPr>
          <p:cNvSpPr txBox="1"/>
          <p:nvPr/>
        </p:nvSpPr>
        <p:spPr>
          <a:xfrm>
            <a:off x="5730767" y="1839220"/>
            <a:ext cx="35244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usando a Matriz de Informação de </a:t>
            </a:r>
            <a:r>
              <a:rPr lang="pt-BR" sz="2400" dirty="0" err="1"/>
              <a:t>Godambe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741AD48-374F-9AAC-0903-9C85B63A8B19}"/>
              </a:ext>
            </a:extLst>
          </p:cNvPr>
          <p:cNvSpPr txBox="1"/>
          <p:nvPr/>
        </p:nvSpPr>
        <p:spPr>
          <a:xfrm>
            <a:off x="9504800" y="1651991"/>
            <a:ext cx="218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estimador</a:t>
            </a:r>
            <a:r>
              <a:rPr lang="en-US" dirty="0"/>
              <a:t> </a:t>
            </a:r>
            <a:r>
              <a:rPr lang="en-US" dirty="0" err="1"/>
              <a:t>sanduíche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3926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F6614-25F8-4CAF-3CAF-8E06F87C4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8">
            <a:extLst>
              <a:ext uri="{FF2B5EF4-FFF2-40B4-BE49-F238E27FC236}">
                <a16:creationId xmlns:a16="http://schemas.microsoft.com/office/drawing/2014/main" id="{02FA78DC-31EC-9D52-FDEF-C869D3A01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Quasi-likelihood</a:t>
            </a:r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estimation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DDCA33A-E80F-D6BD-D05F-279841C7D0FF}"/>
              </a:ext>
            </a:extLst>
          </p:cNvPr>
          <p:cNvGrpSpPr/>
          <p:nvPr/>
        </p:nvGrpSpPr>
        <p:grpSpPr>
          <a:xfrm>
            <a:off x="733425" y="2355390"/>
            <a:ext cx="10725150" cy="2990245"/>
            <a:chOff x="733425" y="2355390"/>
            <a:chExt cx="10725150" cy="2990245"/>
          </a:xfrm>
        </p:grpSpPr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63B2D225-CA55-FCB5-6588-A9FBD8B35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76418" y="3389585"/>
              <a:ext cx="4039164" cy="1028844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370CBAE6-EF20-5D4E-C78B-1E2E5F9A8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3425" y="4752465"/>
              <a:ext cx="10725150" cy="593170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961E4D46-9674-3667-C33F-961F65443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3425" y="2355390"/>
              <a:ext cx="10725150" cy="700159"/>
            </a:xfrm>
            <a:prstGeom prst="rect">
              <a:avLst/>
            </a:prstGeom>
          </p:spPr>
        </p:pic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51F836F-A2DC-516A-BEED-7966580B37F0}"/>
              </a:ext>
            </a:extLst>
          </p:cNvPr>
          <p:cNvSpPr txBox="1"/>
          <p:nvPr/>
        </p:nvSpPr>
        <p:spPr>
          <a:xfrm>
            <a:off x="-1" y="1645171"/>
            <a:ext cx="30264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Equações</a:t>
            </a:r>
            <a:r>
              <a:rPr lang="en-US" sz="2400" dirty="0"/>
              <a:t> de </a:t>
            </a:r>
            <a:r>
              <a:rPr lang="en-US" sz="2400" dirty="0" err="1"/>
              <a:t>estimação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13697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26165-63C0-9EA5-380C-D48D029F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8">
            <a:extLst>
              <a:ext uri="{FF2B5EF4-FFF2-40B4-BE49-F238E27FC236}">
                <a16:creationId xmlns:a16="http://schemas.microsoft.com/office/drawing/2014/main" id="{2B927985-35B6-830C-8778-4307EDF2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Pseudo-likelihood</a:t>
            </a:r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estimation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BB6897-318D-6A4A-2EE6-3061AFCA8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391" y="1626197"/>
            <a:ext cx="6973273" cy="96215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61669CA-8593-E4BE-E7B0-C6B2DFFE9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180" y="2588356"/>
            <a:ext cx="7125694" cy="100026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726BFF4-9B3F-4D76-CD25-94A8AE6AB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8153" y="3588621"/>
            <a:ext cx="7325747" cy="96215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A78E9B7-D3F3-6248-99F8-CF3D0A79B6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207" y="4511320"/>
            <a:ext cx="4753638" cy="866896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0AF8967-9C48-F5CC-BCC5-99AF973BF2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3918" y="5369176"/>
            <a:ext cx="6954220" cy="88594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5B76536-2E60-C028-428F-9AA810F6BF55}"/>
              </a:ext>
            </a:extLst>
          </p:cNvPr>
          <p:cNvSpPr txBox="1"/>
          <p:nvPr/>
        </p:nvSpPr>
        <p:spPr>
          <a:xfrm>
            <a:off x="-1" y="1645171"/>
            <a:ext cx="40019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 err="1"/>
              <a:t>Cosidera</a:t>
            </a:r>
            <a:r>
              <a:rPr lang="en-US" sz="2400" dirty="0"/>
              <a:t> </a:t>
            </a:r>
            <a:r>
              <a:rPr lang="en-US" sz="2400" dirty="0" err="1"/>
              <a:t>propriedades</a:t>
            </a:r>
            <a:r>
              <a:rPr lang="en-US" sz="2400" dirty="0"/>
              <a:t> dos EMV e </a:t>
            </a:r>
            <a:r>
              <a:rPr lang="en-US" sz="2400" dirty="0" err="1"/>
              <a:t>usa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distribuicão</a:t>
            </a:r>
            <a:r>
              <a:rPr lang="en-US" sz="2400" dirty="0"/>
              <a:t> </a:t>
            </a:r>
            <a:r>
              <a:rPr lang="en-US" sz="2400" dirty="0" err="1"/>
              <a:t>aproximada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Log-</a:t>
            </a:r>
            <a:r>
              <a:rPr lang="en-US" sz="2400" dirty="0" err="1"/>
              <a:t>verossimilhança</a:t>
            </a:r>
            <a:r>
              <a:rPr lang="en-US" sz="2400" dirty="0"/>
              <a:t> </a:t>
            </a:r>
            <a:r>
              <a:rPr lang="en-US" sz="2400" dirty="0" err="1"/>
              <a:t>Gaussiana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0040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01CB7C-A539-01DF-073C-8908A9C3C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8">
            <a:extLst>
              <a:ext uri="{FF2B5EF4-FFF2-40B4-BE49-F238E27FC236}">
                <a16:creationId xmlns:a16="http://schemas.microsoft.com/office/drawing/2014/main" id="{86005A60-2597-6F8C-83C0-35F07AD65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Pseudo-likelihood</a:t>
            </a:r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estimation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6D82A63-251B-9693-D464-8D61D615B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890" y="2930064"/>
            <a:ext cx="6954220" cy="86689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87EAE5D-EB2C-F409-3C1B-A78D74BD9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047" y="3915902"/>
            <a:ext cx="2857899" cy="89547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F94A9A0-F254-60A5-7368-FD0A931F0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32" y="4959172"/>
            <a:ext cx="3267531" cy="120031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60A65DD-F594-FAC9-7BEA-1BF94244C6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5221" y="2065301"/>
            <a:ext cx="7192379" cy="49536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253C2F6-28B8-594B-1C99-E076DEE2C496}"/>
                  </a:ext>
                </a:extLst>
              </p:cNvPr>
              <p:cNvSpPr txBox="1"/>
              <p:nvPr/>
            </p:nvSpPr>
            <p:spPr>
              <a:xfrm>
                <a:off x="-29718" y="1676907"/>
                <a:ext cx="5297215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dirty="0"/>
              </a:p>
              <a:p>
                <a:r>
                  <a:rPr lang="en-US" sz="2400" dirty="0" err="1"/>
                  <a:t>Estimador</a:t>
                </a:r>
                <a:r>
                  <a:rPr lang="en-US" sz="2400" dirty="0"/>
                  <a:t> de pseudo-</a:t>
                </a:r>
                <a:r>
                  <a:rPr lang="en-US" sz="2400" dirty="0" err="1"/>
                  <a:t>verossimilhança</a:t>
                </a:r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 err="1"/>
                  <a:t>Sensibilidade</a:t>
                </a:r>
                <a:r>
                  <a:rPr lang="en-US" sz="2400" dirty="0"/>
                  <a:t> e </a:t>
                </a:r>
              </a:p>
              <a:p>
                <a:r>
                  <a:rPr lang="en-US" sz="2400" dirty="0" err="1"/>
                  <a:t>Variabilidade</a:t>
                </a: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Versões </a:t>
                </a:r>
                <a:r>
                  <a:rPr lang="en-US" sz="2400" dirty="0" err="1"/>
                  <a:t>empíricas</a:t>
                </a:r>
                <a:r>
                  <a:rPr lang="en-US" sz="24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 err="1"/>
                  <a:t>Sensibilidade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conjunta</a:t>
                </a:r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253C2F6-28B8-594B-1C99-E076DEE2C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718" y="1676907"/>
                <a:ext cx="5297215" cy="4524315"/>
              </a:xfrm>
              <a:prstGeom prst="rect">
                <a:avLst/>
              </a:prstGeom>
              <a:blipFill>
                <a:blip r:embed="rId7"/>
                <a:stretch>
                  <a:fillRect l="-17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7539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3F6CC-E4B8-B57C-A996-D133FF51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8">
            <a:extLst>
              <a:ext uri="{FF2B5EF4-FFF2-40B4-BE49-F238E27FC236}">
                <a16:creationId xmlns:a16="http://schemas.microsoft.com/office/drawing/2014/main" id="{C9FE9FA9-82B7-DEE2-BDCD-01E02FB7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Pseudo-likelihood</a:t>
            </a:r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 </a:t>
            </a:r>
            <a:r>
              <a:rPr lang="pt-BR" dirty="0" err="1">
                <a:solidFill>
                  <a:srgbClr val="005189"/>
                </a:solidFill>
                <a:latin typeface="Futura Hv BT" panose="020B0702020204020204" pitchFamily="34" charset="0"/>
              </a:rPr>
              <a:t>estimation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5E0D02E-5D11-B2EA-E97B-34424668E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465" y="3908646"/>
            <a:ext cx="8345065" cy="95263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84CD8C6-7488-B22F-4805-79E8DF30A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440" y="5958301"/>
            <a:ext cx="3839111" cy="54300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1BB716E-CFE1-B9B7-7BCB-E40D29D540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204" y="2828902"/>
            <a:ext cx="4191585" cy="95263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70C0182-239F-8C46-C728-94CAC7085F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1598" y="1682474"/>
            <a:ext cx="4448796" cy="101931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BE292BD-28FD-9DA4-7507-8C4D2281131F}"/>
              </a:ext>
            </a:extLst>
          </p:cNvPr>
          <p:cNvSpPr txBox="1"/>
          <p:nvPr/>
        </p:nvSpPr>
        <p:spPr>
          <a:xfrm>
            <a:off x="-1" y="1645171"/>
            <a:ext cx="387159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 err="1"/>
              <a:t>Sensibilidade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Estimação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método</a:t>
            </a:r>
            <a:r>
              <a:rPr lang="en-US" sz="2400" dirty="0"/>
              <a:t> de Newton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22766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59FC19-2609-4EBC-CE1E-75098B8F7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46F3D2D1-B315-6DF5-1ACB-A6699A8C38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6793312"/>
                  </p:ext>
                </p:extLst>
              </p:nvPr>
            </p:nvGraphicFramePr>
            <p:xfrm>
              <a:off x="457200" y="1909962"/>
              <a:ext cx="11264462" cy="40178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90712">
                      <a:extLst>
                        <a:ext uri="{9D8B030D-6E8A-4147-A177-3AD203B41FA5}">
                          <a16:colId xmlns:a16="http://schemas.microsoft.com/office/drawing/2014/main" val="1084235024"/>
                        </a:ext>
                      </a:extLst>
                    </a:gridCol>
                    <a:gridCol w="4465265">
                      <a:extLst>
                        <a:ext uri="{9D8B030D-6E8A-4147-A177-3AD203B41FA5}">
                          <a16:colId xmlns:a16="http://schemas.microsoft.com/office/drawing/2014/main" val="1635860086"/>
                        </a:ext>
                      </a:extLst>
                    </a:gridCol>
                    <a:gridCol w="4508485">
                      <a:extLst>
                        <a:ext uri="{9D8B030D-6E8A-4147-A177-3AD203B41FA5}">
                          <a16:colId xmlns:a16="http://schemas.microsoft.com/office/drawing/2014/main" val="3373478477"/>
                        </a:ext>
                      </a:extLst>
                    </a:gridCol>
                  </a:tblGrid>
                  <a:tr h="4534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Método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Prós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Contras</a:t>
                          </a:r>
                          <a:endParaRPr lang="pt-B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3978350"/>
                      </a:ext>
                    </a:extLst>
                  </a:tr>
                  <a:tr h="1080113">
                    <a:tc>
                      <a:txBody>
                        <a:bodyPr/>
                        <a:lstStyle/>
                        <a:p>
                          <a:r>
                            <a:rPr lang="pt-BR"/>
                            <a:t>Máxima Verossimilhança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- Estimativas eficientes (quando converge) </a:t>
                          </a:r>
                          <a:br>
                            <a:rPr lang="pt-BR" dirty="0"/>
                          </a:br>
                          <a:r>
                            <a:rPr lang="pt-BR" dirty="0"/>
                            <a:t>- Base teórica clássica e bem conhecida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- Dificuldade computacional (somas infinitas) </a:t>
                          </a:r>
                          <a:br>
                            <a:rPr lang="pt-BR" dirty="0"/>
                          </a:br>
                          <a:r>
                            <a:rPr lang="pt-BR" dirty="0"/>
                            <a:t>- Não permite </a:t>
                          </a:r>
                          <a14:m>
                            <m:oMath xmlns:m="http://schemas.openxmlformats.org/officeDocument/2006/math">
                              <m: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  <m:t>&lt;1 </m:t>
                              </m:r>
                            </m:oMath>
                          </a14:m>
                          <a:br>
                            <a:rPr lang="pt-BR" dirty="0"/>
                          </a:br>
                          <a:r>
                            <a:rPr lang="pt-BR" dirty="0"/>
                            <a:t>- Convergência instável em alguns casos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1326463"/>
                      </a:ext>
                    </a:extLst>
                  </a:tr>
                  <a:tr h="1080113">
                    <a:tc>
                      <a:txBody>
                        <a:bodyPr/>
                        <a:lstStyle/>
                        <a:p>
                          <a:r>
                            <a:rPr lang="pt-BR" dirty="0" err="1"/>
                            <a:t>Quasi</a:t>
                          </a:r>
                          <a:r>
                            <a:rPr lang="pt-BR" dirty="0"/>
                            <a:t>-Verossimilhança (QMLE)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- Usa apenas média e variância (2º momento) </a:t>
                          </a:r>
                          <a:br>
                            <a:rPr lang="pt-BR" dirty="0"/>
                          </a:br>
                          <a:r>
                            <a:rPr lang="pt-BR" dirty="0"/>
                            <a:t>- Permite </a:t>
                          </a:r>
                          <a14:m>
                            <m:oMath xmlns:m="http://schemas.openxmlformats.org/officeDocument/2006/math">
                              <m: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oMath>
                          </a14:m>
                          <a:r>
                            <a:rPr lang="pt-BR" dirty="0"/>
                            <a:t> </a:t>
                          </a:r>
                          <a:br>
                            <a:rPr lang="pt-BR" dirty="0"/>
                          </a:br>
                          <a:r>
                            <a:rPr lang="pt-BR" dirty="0"/>
                            <a:t>- Estimativas robustas e consistentes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- Menor eficiência para </a:t>
                          </a:r>
                          <a14:m>
                            <m:oMath xmlns:m="http://schemas.openxmlformats.org/officeDocument/2006/math">
                              <m:r>
                                <a:rPr lang="pt-BR" i="1" dirty="0" err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t-BR" dirty="0"/>
                            <a:t>e </a:t>
                          </a:r>
                          <a14:m>
                            <m:oMath xmlns:m="http://schemas.openxmlformats.org/officeDocument/2006/math">
                              <m: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pt-BR" dirty="0"/>
                            <a:t> </a:t>
                          </a:r>
                          <a:br>
                            <a:rPr lang="pt-BR" dirty="0"/>
                          </a:br>
                          <a:r>
                            <a:rPr lang="pt-BR" dirty="0"/>
                            <a:t>- Estimativas de dispersão menos precisas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3952407"/>
                      </a:ext>
                    </a:extLst>
                  </a:tr>
                  <a:tr h="1404147">
                    <a:tc>
                      <a:txBody>
                        <a:bodyPr/>
                        <a:lstStyle/>
                        <a:p>
                          <a:r>
                            <a:rPr lang="pt-BR" dirty="0" err="1"/>
                            <a:t>Pseudo-Verossimilhança</a:t>
                          </a:r>
                          <a:r>
                            <a:rPr lang="pt-BR" dirty="0"/>
                            <a:t> (PMLE)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- Muito simples de implementar </a:t>
                          </a:r>
                          <a:br>
                            <a:rPr lang="pt-BR" dirty="0"/>
                          </a:br>
                          <a:r>
                            <a:rPr lang="pt-BR" dirty="0"/>
                            <a:t>- Baseada em função quadrática (ex.: gaussiana) </a:t>
                          </a:r>
                          <a:br>
                            <a:rPr lang="pt-BR" dirty="0"/>
                          </a:br>
                          <a:r>
                            <a:rPr lang="pt-BR" dirty="0"/>
                            <a:t>- Permite </a:t>
                          </a:r>
                          <a14:m>
                            <m:oMath xmlns:m="http://schemas.openxmlformats.org/officeDocument/2006/math">
                              <m: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oMath>
                          </a14:m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- Menor eficiência geral </a:t>
                          </a:r>
                          <a:br>
                            <a:rPr lang="pt-BR" dirty="0"/>
                          </a:br>
                          <a:r>
                            <a:rPr lang="pt-BR" dirty="0"/>
                            <a:t>- Depende de suposições incorretas (verossimilhança "falsa") </a:t>
                          </a:r>
                          <a:br>
                            <a:rPr lang="pt-BR" dirty="0"/>
                          </a:br>
                          <a:r>
                            <a:rPr lang="pt-BR" dirty="0"/>
                            <a:t>- Menos precisa que QMLE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760870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46F3D2D1-B315-6DF5-1ACB-A6699A8C38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6793312"/>
                  </p:ext>
                </p:extLst>
              </p:nvPr>
            </p:nvGraphicFramePr>
            <p:xfrm>
              <a:off x="457200" y="1909962"/>
              <a:ext cx="11264462" cy="40178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90712">
                      <a:extLst>
                        <a:ext uri="{9D8B030D-6E8A-4147-A177-3AD203B41FA5}">
                          <a16:colId xmlns:a16="http://schemas.microsoft.com/office/drawing/2014/main" val="1084235024"/>
                        </a:ext>
                      </a:extLst>
                    </a:gridCol>
                    <a:gridCol w="4465265">
                      <a:extLst>
                        <a:ext uri="{9D8B030D-6E8A-4147-A177-3AD203B41FA5}">
                          <a16:colId xmlns:a16="http://schemas.microsoft.com/office/drawing/2014/main" val="1635860086"/>
                        </a:ext>
                      </a:extLst>
                    </a:gridCol>
                    <a:gridCol w="4508485">
                      <a:extLst>
                        <a:ext uri="{9D8B030D-6E8A-4147-A177-3AD203B41FA5}">
                          <a16:colId xmlns:a16="http://schemas.microsoft.com/office/drawing/2014/main" val="3373478477"/>
                        </a:ext>
                      </a:extLst>
                    </a:gridCol>
                  </a:tblGrid>
                  <a:tr h="4534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Método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Prós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Contras</a:t>
                          </a:r>
                          <a:endParaRPr lang="pt-B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3978350"/>
                      </a:ext>
                    </a:extLst>
                  </a:tr>
                  <a:tr h="1080113">
                    <a:tc>
                      <a:txBody>
                        <a:bodyPr/>
                        <a:lstStyle/>
                        <a:p>
                          <a:r>
                            <a:rPr lang="pt-BR"/>
                            <a:t>Máxima Verossimilhança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- Estimativas eficientes (quando converge) </a:t>
                          </a:r>
                          <a:br>
                            <a:rPr lang="pt-BR" dirty="0"/>
                          </a:br>
                          <a:r>
                            <a:rPr lang="pt-BR" dirty="0"/>
                            <a:t>- Base teórica clássica e bem conhecida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50000" t="-44382" r="-676" b="-2303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326463"/>
                      </a:ext>
                    </a:extLst>
                  </a:tr>
                  <a:tr h="1080113">
                    <a:tc>
                      <a:txBody>
                        <a:bodyPr/>
                        <a:lstStyle/>
                        <a:p>
                          <a:r>
                            <a:rPr lang="pt-BR" dirty="0" err="1"/>
                            <a:t>Quasi</a:t>
                          </a:r>
                          <a:r>
                            <a:rPr lang="pt-BR" dirty="0"/>
                            <a:t>-Verossimilhança (QMLE)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51639" t="-145198" r="-101776" b="-131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50000" t="-145198" r="-676" b="-1316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3952407"/>
                      </a:ext>
                    </a:extLst>
                  </a:tr>
                  <a:tr h="1404147">
                    <a:tc>
                      <a:txBody>
                        <a:bodyPr/>
                        <a:lstStyle/>
                        <a:p>
                          <a:r>
                            <a:rPr lang="pt-BR" dirty="0" err="1"/>
                            <a:t>Pseudo-Verossimilhança</a:t>
                          </a:r>
                          <a:r>
                            <a:rPr lang="pt-BR" dirty="0"/>
                            <a:t> (PMLE)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51639" t="-187879" r="-101776" b="-8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- Menor eficiência geral </a:t>
                          </a:r>
                          <a:br>
                            <a:rPr lang="pt-BR" dirty="0"/>
                          </a:br>
                          <a:r>
                            <a:rPr lang="pt-BR" dirty="0"/>
                            <a:t>- Depende de suposições incorretas (verossimilhança "falsa") </a:t>
                          </a:r>
                          <a:br>
                            <a:rPr lang="pt-BR" dirty="0"/>
                          </a:br>
                          <a:r>
                            <a:rPr lang="pt-BR" dirty="0"/>
                            <a:t>- Menos precisa que QMLE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76087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ítulo 8">
            <a:extLst>
              <a:ext uri="{FF2B5EF4-FFF2-40B4-BE49-F238E27FC236}">
                <a16:creationId xmlns:a16="http://schemas.microsoft.com/office/drawing/2014/main" id="{4608F0D3-BF21-E342-B117-C5189886B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Comparação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455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DEADEB-8BBB-8125-A14C-1B2BB81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8">
            <a:extLst>
              <a:ext uri="{FF2B5EF4-FFF2-40B4-BE49-F238E27FC236}">
                <a16:creationId xmlns:a16="http://schemas.microsoft.com/office/drawing/2014/main" id="{15925B3B-06C9-277C-996C-0A45A94C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Estudo de simulação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4CFCD827-BE7C-548A-827F-F703E766054B}"/>
              </a:ext>
            </a:extLst>
          </p:cNvPr>
          <p:cNvGrpSpPr/>
          <p:nvPr/>
        </p:nvGrpSpPr>
        <p:grpSpPr>
          <a:xfrm>
            <a:off x="608834" y="2041902"/>
            <a:ext cx="10974332" cy="1299500"/>
            <a:chOff x="608834" y="2041902"/>
            <a:chExt cx="10974332" cy="1299500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8BAD909A-3863-E65D-37F0-B027E4EFAD5B}"/>
                </a:ext>
              </a:extLst>
            </p:cNvPr>
            <p:cNvGrpSpPr/>
            <p:nvPr/>
          </p:nvGrpSpPr>
          <p:grpSpPr>
            <a:xfrm>
              <a:off x="608834" y="2041902"/>
              <a:ext cx="10974332" cy="1299500"/>
              <a:chOff x="608834" y="2041902"/>
              <a:chExt cx="10974332" cy="1299500"/>
            </a:xfrm>
          </p:grpSpPr>
          <p:pic>
            <p:nvPicPr>
              <p:cNvPr id="4" name="Imagem 3">
                <a:extLst>
                  <a:ext uri="{FF2B5EF4-FFF2-40B4-BE49-F238E27FC236}">
                    <a16:creationId xmlns:a16="http://schemas.microsoft.com/office/drawing/2014/main" id="{927360ED-BBE2-BE68-EF4D-5EEE0983F4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834" y="2041902"/>
                <a:ext cx="10974332" cy="1286054"/>
              </a:xfrm>
              <a:prstGeom prst="rect">
                <a:avLst/>
              </a:prstGeom>
            </p:spPr>
          </p:pic>
          <p:pic>
            <p:nvPicPr>
              <p:cNvPr id="10" name="Imagem 9">
                <a:extLst>
                  <a:ext uri="{FF2B5EF4-FFF2-40B4-BE49-F238E27FC236}">
                    <a16:creationId xmlns:a16="http://schemas.microsoft.com/office/drawing/2014/main" id="{A8FFD630-B4C2-8456-26AF-18003BE5E8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14867" y="3007980"/>
                <a:ext cx="6168299" cy="333422"/>
              </a:xfrm>
              <a:prstGeom prst="rect">
                <a:avLst/>
              </a:prstGeom>
            </p:spPr>
          </p:pic>
        </p:grp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30DB5807-0978-E4F3-5D04-0A93CAEC7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0631" y="3006369"/>
              <a:ext cx="5982535" cy="304843"/>
            </a:xfrm>
            <a:prstGeom prst="rect">
              <a:avLst/>
            </a:prstGeom>
          </p:spPr>
        </p:pic>
      </p:grpSp>
      <p:pic>
        <p:nvPicPr>
          <p:cNvPr id="14" name="Imagem 13">
            <a:extLst>
              <a:ext uri="{FF2B5EF4-FFF2-40B4-BE49-F238E27FC236}">
                <a16:creationId xmlns:a16="http://schemas.microsoft.com/office/drawing/2014/main" id="{C10800A4-9DF3-1C98-A9E4-355E0990A8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834" y="4159060"/>
            <a:ext cx="10955279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76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B30C2-0F5E-24F8-90C8-5EE832378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9AAF505A-9620-B8CB-1E4E-3A121AFB8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94" y="71766"/>
            <a:ext cx="9930011" cy="671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83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4855C-9443-60AB-64C9-ED4F0D8FF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8">
            <a:extLst>
              <a:ext uri="{FF2B5EF4-FFF2-40B4-BE49-F238E27FC236}">
                <a16:creationId xmlns:a16="http://schemas.microsoft.com/office/drawing/2014/main" id="{62D696F2-6E3E-C9FF-8E74-4A79F69D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Resultados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CC2E05B8-A12A-6B37-739F-1C7A09D00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723" y="1830796"/>
                <a:ext cx="5840277" cy="48628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pt-BR" altLang="pt-BR" sz="2400" dirty="0"/>
                  <a:t>QMLE e PMLE: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pt-BR" altLang="pt-BR" sz="2000" dirty="0"/>
                  <a:t>Viés e erro padrão (SE) diminuem com o aumento da amostra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pt-BR" altLang="pt-BR" sz="2000" dirty="0"/>
                  <a:t>Estimadores consistentes e não viciados.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pt-BR" altLang="pt-BR" sz="2000" dirty="0"/>
                  <a:t>Cobertura próxima de 95% para todos os parâmetros.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pt-BR" altLang="pt-BR" sz="24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pt-BR" altLang="pt-BR" sz="2400" dirty="0"/>
                  <a:t>MLE: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pt-BR" altLang="pt-BR" sz="2000" dirty="0"/>
                  <a:t>Falhou para </a:t>
                </a:r>
                <a14:m>
                  <m:oMath xmlns:m="http://schemas.openxmlformats.org/officeDocument/2006/math">
                    <m:r>
                      <a:rPr lang="pt-BR" altLang="pt-BR" sz="2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altLang="pt-BR" sz="20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altLang="pt-BR" sz="2000" dirty="0"/>
                  <a:t> e </a:t>
                </a:r>
                <a14:m>
                  <m:oMath xmlns:m="http://schemas.openxmlformats.org/officeDocument/2006/math">
                    <m:r>
                      <a:rPr lang="pt-BR" altLang="pt-BR" sz="2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altLang="pt-BR" sz="2000" i="1" dirty="0" smtClean="0">
                        <a:latin typeface="Cambria Math" panose="02040503050406030204" pitchFamily="18" charset="0"/>
                      </a:rPr>
                      <m:t>=1.01</m:t>
                    </m:r>
                  </m:oMath>
                </a14:m>
                <a:r>
                  <a:rPr lang="pt-BR" altLang="pt-BR" sz="2000" dirty="0"/>
                  <a:t> nos cenários de média e alta variação.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pt-BR" altLang="pt-BR" sz="2000" dirty="0"/>
                  <a:t>Convergiu apenas em poucos casos de baixa variação (132 e 326 simulações).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pt-BR" altLang="pt-BR" sz="2000" dirty="0"/>
                  <a:t>Mesmo com falhas na dispersão, os coeficientes de regressão foram bem estimados.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altLang="pt-B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CC2E05B8-A12A-6B37-739F-1C7A09D005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723" y="1830796"/>
                <a:ext cx="5840277" cy="4862870"/>
              </a:xfrm>
              <a:prstGeom prst="rect">
                <a:avLst/>
              </a:prstGeom>
              <a:blipFill>
                <a:blip r:embed="rId3"/>
                <a:stretch>
                  <a:fillRect l="-1670" t="-501" r="-12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527B53D2-BDE8-7904-9767-C355FF44137D}"/>
                  </a:ext>
                </a:extLst>
              </p:cNvPr>
              <p:cNvSpPr txBox="1"/>
              <p:nvPr/>
            </p:nvSpPr>
            <p:spPr>
              <a:xfrm>
                <a:off x="6604348" y="1830796"/>
                <a:ext cx="5587652" cy="4339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pt-BR" altLang="pt-BR" sz="2400" dirty="0"/>
                  <a:t>Taxas de cobertura (intervalos de confiança):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pt-BR" altLang="pt-BR" sz="2000" dirty="0"/>
                  <a:t>QMLE &gt; PMLE, principalmente para </a:t>
                </a:r>
                <a14:m>
                  <m:oMath xmlns:m="http://schemas.openxmlformats.org/officeDocument/2006/math">
                    <m:r>
                      <a:rPr lang="pt-BR" altLang="pt-BR" sz="2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altLang="pt-BR" sz="2000" i="1" dirty="0" smtClean="0">
                        <a:latin typeface="Cambria Math" panose="02040503050406030204" pitchFamily="18" charset="0"/>
                      </a:rPr>
                      <m:t>≥1.5</m:t>
                    </m:r>
                  </m:oMath>
                </a14:m>
                <a:r>
                  <a:rPr lang="pt-BR" altLang="pt-BR" sz="2000" dirty="0"/>
                  <a:t>.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pt-BR" altLang="pt-BR" sz="2000" dirty="0"/>
                  <a:t>MLE confiável apenas para valores maiores de </a:t>
                </a:r>
                <a14:m>
                  <m:oMath xmlns:m="http://schemas.openxmlformats.org/officeDocument/2006/math">
                    <m:r>
                      <a:rPr lang="pt-BR" altLang="pt-BR" sz="20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altLang="pt-BR" sz="2000" dirty="0"/>
                  <a:t>.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pt-BR" altLang="pt-BR" sz="20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pt-BR" altLang="pt-BR" sz="2400" dirty="0"/>
                  <a:t>Eficiência empírica (variância MLE / variância alternativa):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pt-BR" altLang="pt-BR" sz="2000" dirty="0"/>
                  <a:t>QMLE e PMLE eficientes para coeficientes de regressão (eficiência ≈ 1).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pt-BR" altLang="pt-BR" sz="2000" dirty="0"/>
                  <a:t>Perda de eficiência para parâmetros de dispersão com variação alta, principalmente em </a:t>
                </a:r>
                <a14:m>
                  <m:oMath xmlns:m="http://schemas.openxmlformats.org/officeDocument/2006/math">
                    <m:r>
                      <a:rPr lang="pt-BR" altLang="pt-BR" sz="2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altLang="pt-BR" sz="2000" i="1" dirty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endParaRPr lang="pt-BR" altLang="pt-BR" sz="2000" dirty="0"/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pt-BR" altLang="pt-BR" sz="2000" dirty="0"/>
                  <a:t>PMLE mais eficiente que QMLE para </a:t>
                </a:r>
                <a14:m>
                  <m:oMath xmlns:m="http://schemas.openxmlformats.org/officeDocument/2006/math">
                    <m:r>
                      <a:rPr lang="pt-BR" altLang="pt-BR" sz="20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altLang="pt-BR" sz="2000" dirty="0"/>
                  <a:t> e </a:t>
                </a:r>
                <a14:m>
                  <m:oMath xmlns:m="http://schemas.openxmlformats.org/officeDocument/2006/math">
                    <m:r>
                      <a:rPr lang="pt-BR" altLang="pt-BR" sz="20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pt-BR" altLang="pt-BR" sz="2000" dirty="0"/>
                  <a:t>.</a:t>
                </a:r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527B53D2-BDE8-7904-9767-C355FF441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348" y="1830796"/>
                <a:ext cx="5587652" cy="4339650"/>
              </a:xfrm>
              <a:prstGeom prst="rect">
                <a:avLst/>
              </a:prstGeom>
              <a:blipFill>
                <a:blip r:embed="rId4"/>
                <a:stretch>
                  <a:fillRect l="-1636" t="-1124" r="-218" b="-15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C8DEBD2-4174-4152-32B9-7AE1F900349D}"/>
              </a:ext>
            </a:extLst>
          </p:cNvPr>
          <p:cNvCxnSpPr/>
          <p:nvPr/>
        </p:nvCxnSpPr>
        <p:spPr>
          <a:xfrm>
            <a:off x="6096000" y="1731880"/>
            <a:ext cx="0" cy="49617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406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B16EB-A211-2CD8-9FD3-9DF7D6E3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271A9FB-B90F-7721-AED1-583D18ACF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33" y="75740"/>
            <a:ext cx="10455933" cy="670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482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60BB9F-86C0-66D6-A51F-7F2C5D760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47ED02B-15CB-FC97-43F5-8AB8140E5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76" y="2166654"/>
            <a:ext cx="11824447" cy="2346622"/>
          </a:xfrm>
          <a:prstGeom prst="rect">
            <a:avLst/>
          </a:prstGeom>
        </p:spPr>
      </p:pic>
      <p:sp>
        <p:nvSpPr>
          <p:cNvPr id="4" name="Título 8">
            <a:extLst>
              <a:ext uri="{FF2B5EF4-FFF2-40B4-BE49-F238E27FC236}">
                <a16:creationId xmlns:a16="http://schemas.microsoft.com/office/drawing/2014/main" id="{D41DD08E-1215-CD98-FC98-C1584BE46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746042"/>
            <a:ext cx="9258300" cy="98583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Estimação dos parâmetros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85F9E43-CD97-EB06-29B8-963E2D251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723" y="4833270"/>
            <a:ext cx="11936277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altLang="pt-BR" sz="2400" dirty="0"/>
              <a:t>QMLE ≈ MLE: Diferença média de 3,36% nas estimativas e intervalos 3,33% mais largos.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altLang="pt-BR" sz="2400" dirty="0"/>
              <a:t>PMLE mais divergente: Diferença de 14,6% nas estimativas e 40% nos intervalos.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altLang="pt-BR" sz="2400" dirty="0"/>
              <a:t>Erros padrões maiores para QMLE e PMLE (menos eficientes, porém mais robustos).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altLang="pt-BR" sz="2400" dirty="0"/>
              <a:t>QMLE foi 37× mais rápido que MLE na computação.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718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1409700" y="1162050"/>
            <a:ext cx="9258300" cy="985838"/>
          </a:xfrm>
        </p:spPr>
        <p:txBody>
          <a:bodyPr/>
          <a:lstStyle/>
          <a:p>
            <a:pPr algn="ctr"/>
            <a:r>
              <a:rPr lang="pt-BR" dirty="0">
                <a:solidFill>
                  <a:srgbClr val="005189"/>
                </a:solidFill>
                <a:latin typeface="Futura Hv BT" panose="020B0702020204020204" pitchFamily="34" charset="0"/>
              </a:rPr>
              <a:t>Obrigado</a:t>
            </a:r>
            <a:endParaRPr lang="pt-BR" i="1" dirty="0">
              <a:solidFill>
                <a:srgbClr val="005189"/>
              </a:solidFill>
              <a:latin typeface="Futura Hv BT" panose="020B0702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9512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1977</TotalTime>
  <Words>628</Words>
  <Application>Microsoft Office PowerPoint</Application>
  <PresentationFormat>Widescreen</PresentationFormat>
  <Paragraphs>190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Futura Bk BT</vt:lpstr>
      <vt:lpstr>Futura Hv BT</vt:lpstr>
      <vt:lpstr>Futura Md BT</vt:lpstr>
      <vt:lpstr>Tema do Office</vt:lpstr>
      <vt:lpstr>Apresentação do Artigo: Flexible Tweedie regression models for continuous data</vt:lpstr>
      <vt:lpstr>Informações</vt:lpstr>
      <vt:lpstr>Modelos de Regressão Tweedie</vt:lpstr>
      <vt:lpstr>Suporte da distribuição e casos especiais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Maximum likelihood estimation</vt:lpstr>
      <vt:lpstr>Maximum likelihood estimation</vt:lpstr>
      <vt:lpstr>Maximum likelihood estimation</vt:lpstr>
      <vt:lpstr>Quasi-likelihood estimation</vt:lpstr>
      <vt:lpstr>Quasi-likelihood estimation</vt:lpstr>
      <vt:lpstr>Quasi-likelihood estimation</vt:lpstr>
      <vt:lpstr>Quasi-likelihood estimation</vt:lpstr>
      <vt:lpstr>Quasi-likelihood estimation</vt:lpstr>
      <vt:lpstr>Pseudo-likelihood estimation</vt:lpstr>
      <vt:lpstr>Pseudo-likelihood estimation</vt:lpstr>
      <vt:lpstr>Pseudo-likelihood estimation</vt:lpstr>
      <vt:lpstr>Comparação</vt:lpstr>
      <vt:lpstr>Estudo de simulação</vt:lpstr>
      <vt:lpstr>Apresentação do PowerPoint</vt:lpstr>
      <vt:lpstr>Resultados</vt:lpstr>
      <vt:lpstr>Apresentação do PowerPoint</vt:lpstr>
      <vt:lpstr>Estimação dos parâmetros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Bureau 1</dc:creator>
  <cp:lastModifiedBy>Luiz Henrique Barretta Francisco</cp:lastModifiedBy>
  <cp:revision>30</cp:revision>
  <dcterms:created xsi:type="dcterms:W3CDTF">2017-02-16T13:32:25Z</dcterms:created>
  <dcterms:modified xsi:type="dcterms:W3CDTF">2025-05-15T20:58:54Z</dcterms:modified>
</cp:coreProperties>
</file>